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/>
              <a:t>Agentic AI–Driven Intelligent RPA Task Orchestrator for Automated Document Processing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Rishabh Jain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2210990725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Robotic Process Automation (RPA) is widely used to automate repetitive business tasks.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Traditional RPA systems depend on static workflows and predefined rules.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Such systems lack flexibility when dealing with dynamic and unstructured documents.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Organizations receive documents such as invoices, reports, and forms through emails in multiple formats.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workflow selection and document classification reduce automation efficiency.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project introduces an agentic decision layer above traditional RPA workflows.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dynamically analyzes documents and determines suitable processing actions automatically.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40D0-0740-B243-E999-DE6E8495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640BD-BC8B-9339-1153-7D7C8A77ABE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92608" y="2006856"/>
            <a:ext cx="8229240" cy="3977280"/>
          </a:xfrm>
        </p:spPr>
        <p:txBody>
          <a:bodyPr/>
          <a:lstStyle/>
          <a:p>
            <a:r>
              <a:rPr lang="en-US" sz="2400" dirty="0"/>
              <a:t>Traditional RPA systems are rule-based and rigid. </a:t>
            </a:r>
          </a:p>
          <a:p>
            <a:r>
              <a:rPr lang="en-US" sz="2400" dirty="0"/>
              <a:t>Static workflows fail when document formats change. </a:t>
            </a:r>
          </a:p>
          <a:p>
            <a:r>
              <a:rPr lang="en-US" sz="2400" dirty="0"/>
              <a:t>Human intervention is required for: </a:t>
            </a:r>
          </a:p>
          <a:p>
            <a:pPr lvl="1"/>
            <a:r>
              <a:rPr lang="en-US" sz="2000" dirty="0"/>
              <a:t>Document classification </a:t>
            </a:r>
          </a:p>
          <a:p>
            <a:pPr lvl="1"/>
            <a:r>
              <a:rPr lang="en-US" sz="2000" dirty="0"/>
              <a:t>Workflow selection </a:t>
            </a:r>
          </a:p>
          <a:p>
            <a:pPr lvl="1"/>
            <a:r>
              <a:rPr lang="en-US" sz="2000" dirty="0"/>
              <a:t>Error handling </a:t>
            </a:r>
          </a:p>
          <a:p>
            <a:r>
              <a:rPr lang="en-US" sz="2400" dirty="0"/>
              <a:t>Enterprises process large numbers of email-based documents daily. </a:t>
            </a:r>
          </a:p>
          <a:p>
            <a:r>
              <a:rPr lang="en-US" sz="2400" dirty="0"/>
              <a:t>Existing automation systems cannot intelligently adapt to varying document structures. </a:t>
            </a:r>
          </a:p>
          <a:p>
            <a:r>
              <a:rPr lang="en-US" sz="2400" dirty="0"/>
              <a:t>There is a need for a flexible and intelligent orchestration mechanism.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6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2086-CBAF-2B26-BBBA-3DF7E4A8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Objectives of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593A0-EF9B-19BF-9FF1-468DAF0C6F7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7744" y="1147320"/>
            <a:ext cx="8229240" cy="3977280"/>
          </a:xfrm>
        </p:spPr>
        <p:txBody>
          <a:bodyPr/>
          <a:lstStyle/>
          <a:p>
            <a:r>
              <a:rPr lang="en-US" sz="2400" dirty="0"/>
              <a:t>Automate document intake from emails. </a:t>
            </a:r>
          </a:p>
          <a:p>
            <a:r>
              <a:rPr lang="en-US" sz="2400" dirty="0"/>
              <a:t>Extract data from unstructured PDF documents using OCR.</a:t>
            </a:r>
          </a:p>
          <a:p>
            <a:r>
              <a:rPr lang="en-US" sz="2400" dirty="0"/>
              <a:t>Implement an intelligent agent-based decision layer. Dynamically determine document type and processing strategy.</a:t>
            </a:r>
          </a:p>
          <a:p>
            <a:r>
              <a:rPr lang="en-US" sz="2400" dirty="0"/>
              <a:t>Route documents automatically based on classification.</a:t>
            </a:r>
          </a:p>
          <a:p>
            <a:r>
              <a:rPr lang="en-US" sz="2400" dirty="0"/>
              <a:t>Maintain execution logs and traceability.</a:t>
            </a:r>
          </a:p>
          <a:p>
            <a:r>
              <a:rPr lang="en-US" sz="2400" dirty="0"/>
              <a:t>Build a modular and scalable automation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229109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6498-9C14-9235-06A6-586B54C8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DDFFD-80EC-9E0F-E7E0-6A926E18C18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3464" y="1979424"/>
            <a:ext cx="8229240" cy="3977280"/>
          </a:xfrm>
        </p:spPr>
        <p:txBody>
          <a:bodyPr/>
          <a:lstStyle/>
          <a:p>
            <a:r>
              <a:rPr lang="en-US" sz="2400" dirty="0"/>
              <a:t>The proposed system introduces an Agentic AI–Driven RPA Orchestrator capable of:</a:t>
            </a:r>
          </a:p>
          <a:p>
            <a:r>
              <a:rPr lang="en-US" sz="2400" dirty="0"/>
              <a:t>Monitoring email inboxes automatically. </a:t>
            </a:r>
          </a:p>
          <a:p>
            <a:r>
              <a:rPr lang="en-US" sz="2400" dirty="0"/>
              <a:t>Downloading and organizing document attachments. </a:t>
            </a:r>
          </a:p>
          <a:p>
            <a:r>
              <a:rPr lang="en-US" sz="2400" dirty="0"/>
              <a:t>Extracting text using OCR. </a:t>
            </a:r>
          </a:p>
          <a:p>
            <a:r>
              <a:rPr lang="en-US" sz="2400" dirty="0"/>
              <a:t>Performing intelligent document classification. </a:t>
            </a:r>
          </a:p>
          <a:p>
            <a:r>
              <a:rPr lang="en-US" sz="2400" dirty="0"/>
              <a:t>Dynamically controlling workflow execution. </a:t>
            </a:r>
          </a:p>
          <a:p>
            <a:r>
              <a:rPr lang="en-US" sz="2400" dirty="0"/>
              <a:t>Logging all operations for monitoring and auditability. </a:t>
            </a:r>
          </a:p>
          <a:p>
            <a:r>
              <a:rPr lang="en-US" sz="2400" dirty="0"/>
              <a:t>The system combines:</a:t>
            </a:r>
          </a:p>
          <a:p>
            <a:r>
              <a:rPr lang="en-US" sz="2400" dirty="0"/>
              <a:t>UiPath RPA workflows </a:t>
            </a:r>
          </a:p>
          <a:p>
            <a:r>
              <a:rPr lang="en-US" sz="2400" dirty="0"/>
              <a:t>Python-based agent logic </a:t>
            </a:r>
          </a:p>
          <a:p>
            <a:r>
              <a:rPr lang="en-US" sz="2400" dirty="0"/>
              <a:t>OCR-based document preprocessing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847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20AC-224B-3A08-0423-2A229CF1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261FC-A3F9-F200-C59B-3648C07DC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1594"/>
            <a:ext cx="9144000" cy="369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C5F4-A5FC-7B39-2FC1-EC0CC779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A36FB-79AF-BEA6-9F4A-4363F15C892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46888" y="1906272"/>
            <a:ext cx="8229240" cy="3977280"/>
          </a:xfrm>
        </p:spPr>
        <p:txBody>
          <a:bodyPr/>
          <a:lstStyle/>
          <a:p>
            <a:r>
              <a:rPr lang="en-US" sz="1400" b="1" dirty="0"/>
              <a:t>Step 1 — Email Monitoring</a:t>
            </a:r>
          </a:p>
          <a:p>
            <a:r>
              <a:rPr lang="en-US" sz="1400" dirty="0"/>
              <a:t>Outlook inbox is continuously monitored. </a:t>
            </a:r>
          </a:p>
          <a:p>
            <a:r>
              <a:rPr lang="en-US" sz="1400" dirty="0"/>
              <a:t>Unread emails matching criteria are fetched. </a:t>
            </a:r>
          </a:p>
          <a:p>
            <a:r>
              <a:rPr lang="en-US" sz="1400" b="1" dirty="0"/>
              <a:t>Step 2 — Attachment Extraction</a:t>
            </a:r>
          </a:p>
          <a:p>
            <a:r>
              <a:rPr lang="en-US" sz="1400" dirty="0"/>
              <a:t>PDF attachments are downloaded automatically. </a:t>
            </a:r>
          </a:p>
          <a:p>
            <a:r>
              <a:rPr lang="en-US" sz="1400" dirty="0"/>
              <a:t>Files are stored in timestamp-based folders. </a:t>
            </a:r>
          </a:p>
          <a:p>
            <a:r>
              <a:rPr lang="en-US" sz="1400" b="1" dirty="0"/>
              <a:t>Step 3 — OCR Processing</a:t>
            </a:r>
          </a:p>
          <a:p>
            <a:r>
              <a:rPr lang="en-US" sz="1400" dirty="0"/>
              <a:t>OCR extracts text from PDF documents. </a:t>
            </a:r>
          </a:p>
          <a:p>
            <a:r>
              <a:rPr lang="en-US" sz="1400" dirty="0"/>
              <a:t>Raw text is converted into machine-readable format. </a:t>
            </a:r>
          </a:p>
          <a:p>
            <a:r>
              <a:rPr lang="en-US" sz="1400" b="1" dirty="0"/>
              <a:t>Step 4 — Agentic Decision Layer</a:t>
            </a:r>
          </a:p>
          <a:p>
            <a:r>
              <a:rPr lang="en-US" sz="1400" dirty="0"/>
              <a:t>Python-based classifier analyzes extracted text. </a:t>
            </a:r>
          </a:p>
          <a:p>
            <a:r>
              <a:rPr lang="en-US" sz="1400" dirty="0"/>
              <a:t>Document type is determined dynamically. </a:t>
            </a:r>
          </a:p>
          <a:p>
            <a:r>
              <a:rPr lang="en-US" sz="1400" b="1" dirty="0"/>
              <a:t>Step 5 — Dynamic Routing</a:t>
            </a:r>
          </a:p>
          <a:p>
            <a:r>
              <a:rPr lang="en-US" sz="1400" dirty="0"/>
              <a:t>Appropriate workflow actions are selected. </a:t>
            </a:r>
          </a:p>
          <a:p>
            <a:r>
              <a:rPr lang="en-US" sz="1400" dirty="0"/>
              <a:t>Documents are routed automatically. </a:t>
            </a:r>
          </a:p>
          <a:p>
            <a:r>
              <a:rPr lang="en-US" sz="1400" b="1" dirty="0"/>
              <a:t>Step 6 — Logging</a:t>
            </a:r>
          </a:p>
          <a:p>
            <a:r>
              <a:rPr lang="en-US" sz="1400" dirty="0"/>
              <a:t>Processing status and exceptions are logged.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8283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E6AC-230E-771E-7813-A957A404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FC6DAE-C61A-4BA0-D76C-E98AC8E89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37230"/>
              </p:ext>
            </p:extLst>
          </p:nvPr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0787753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05348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65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67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395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14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88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565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34FEE4-4537-D192-E489-F7C5C26AA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947005"/>
              </p:ext>
            </p:extLst>
          </p:nvPr>
        </p:nvGraphicFramePr>
        <p:xfrm>
          <a:off x="210312" y="1188721"/>
          <a:ext cx="8805672" cy="2850900"/>
        </p:xfrm>
        <a:graphic>
          <a:graphicData uri="http://schemas.openxmlformats.org/drawingml/2006/table">
            <a:tbl>
              <a:tblPr/>
              <a:tblGrid>
                <a:gridCol w="4402836">
                  <a:extLst>
                    <a:ext uri="{9D8B030D-6E8A-4147-A177-3AD203B41FA5}">
                      <a16:colId xmlns:a16="http://schemas.microsoft.com/office/drawing/2014/main" val="891790294"/>
                    </a:ext>
                  </a:extLst>
                </a:gridCol>
                <a:gridCol w="4402836">
                  <a:extLst>
                    <a:ext uri="{9D8B030D-6E8A-4147-A177-3AD203B41FA5}">
                      <a16:colId xmlns:a16="http://schemas.microsoft.com/office/drawing/2014/main" val="961319035"/>
                    </a:ext>
                  </a:extLst>
                </a:gridCol>
              </a:tblGrid>
              <a:tr h="656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06997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UiPath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RPA workflow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171056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Agentic document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348936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Outlook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285721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Microsoft OCR / Tesseract OCR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948442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 System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document 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867302"/>
                  </a:ext>
                </a:extLst>
              </a:tr>
              <a:tr h="347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TXT/JSON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5509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BE63374-9AAC-A77A-1B0B-67A0DA10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4222500"/>
            <a:ext cx="4462632" cy="2271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E951B9-7204-4A04-89F3-73D8F0227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589" y="42225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6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9905-B2C5-8AD1-CF4B-DD61E57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Achieved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03ADC-A295-CF04-AF85-D2BB6EF4CFE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46888" y="1915416"/>
            <a:ext cx="8229240" cy="3977280"/>
          </a:xfrm>
        </p:spPr>
        <p:txBody>
          <a:bodyPr/>
          <a:lstStyle/>
          <a:p>
            <a:r>
              <a:rPr lang="en-US" sz="1500" b="1" dirty="0"/>
              <a:t>Successfully Implemented:</a:t>
            </a:r>
          </a:p>
          <a:p>
            <a:r>
              <a:rPr lang="en-US" sz="1500" dirty="0"/>
              <a:t>Automated email-based document ingestion </a:t>
            </a:r>
          </a:p>
          <a:p>
            <a:r>
              <a:rPr lang="en-US" sz="1500" dirty="0"/>
              <a:t>PDF attachment extraction </a:t>
            </a:r>
          </a:p>
          <a:p>
            <a:r>
              <a:rPr lang="en-US" sz="1500" dirty="0"/>
              <a:t>OCR-based text extraction </a:t>
            </a:r>
          </a:p>
          <a:p>
            <a:r>
              <a:rPr lang="en-US" sz="1500" dirty="0"/>
              <a:t>Raw text generation </a:t>
            </a:r>
          </a:p>
          <a:p>
            <a:r>
              <a:rPr lang="en-US" sz="1500" dirty="0"/>
              <a:t>Dynamic document handling </a:t>
            </a:r>
          </a:p>
          <a:p>
            <a:r>
              <a:rPr lang="en-US" sz="1500" dirty="0"/>
              <a:t>Logging and exception handling </a:t>
            </a:r>
          </a:p>
          <a:p>
            <a:r>
              <a:rPr lang="en-US" sz="1500" b="1" dirty="0"/>
              <a:t>System Outputs:</a:t>
            </a:r>
          </a:p>
          <a:p>
            <a:r>
              <a:rPr lang="en-US" sz="1500" dirty="0"/>
              <a:t>OCR-generated text files </a:t>
            </a:r>
          </a:p>
          <a:p>
            <a:r>
              <a:rPr lang="en-US" sz="1500" dirty="0"/>
              <a:t>Execution logs </a:t>
            </a:r>
          </a:p>
          <a:p>
            <a:r>
              <a:rPr lang="en-US" sz="1500" dirty="0"/>
              <a:t>Organized document storage </a:t>
            </a:r>
          </a:p>
          <a:p>
            <a:r>
              <a:rPr lang="en-US" sz="1500" b="1" dirty="0"/>
              <a:t>System Characteristics:</a:t>
            </a:r>
          </a:p>
          <a:p>
            <a:r>
              <a:rPr lang="en-US" sz="1500" dirty="0"/>
              <a:t>Event-driven </a:t>
            </a:r>
          </a:p>
          <a:p>
            <a:r>
              <a:rPr lang="en-US" sz="1500" dirty="0"/>
              <a:t>Modular </a:t>
            </a:r>
          </a:p>
          <a:p>
            <a:r>
              <a:rPr lang="en-US" sz="1500" dirty="0"/>
              <a:t>Scalable </a:t>
            </a:r>
          </a:p>
          <a:p>
            <a:r>
              <a:rPr lang="en-US" sz="1500" dirty="0"/>
              <a:t>Fault tolerant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8737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3134-0191-9C73-6964-59B3D988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85A44-29BB-C953-791A-0165EA7503E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3736" y="914040"/>
            <a:ext cx="8229240" cy="3977280"/>
          </a:xfrm>
        </p:spPr>
        <p:txBody>
          <a:bodyPr/>
          <a:lstStyle/>
          <a:p>
            <a:r>
              <a:rPr lang="en-US" dirty="0"/>
              <a:t>Support multiple document types</a:t>
            </a:r>
          </a:p>
          <a:p>
            <a:r>
              <a:rPr lang="en-US" dirty="0"/>
              <a:t>Add advanced AI/ML models</a:t>
            </a:r>
          </a:p>
          <a:p>
            <a:r>
              <a:rPr lang="en-US" dirty="0"/>
              <a:t>Integrate dashboards and analytics</a:t>
            </a:r>
          </a:p>
          <a:p>
            <a:r>
              <a:rPr lang="en-US" dirty="0"/>
              <a:t>Human-in-the-loop approval workflows</a:t>
            </a:r>
          </a:p>
          <a:p>
            <a:r>
              <a:rPr lang="en-US" dirty="0"/>
              <a:t>Cloud deployment Integration with enterprise ERP systems</a:t>
            </a:r>
          </a:p>
          <a:p>
            <a:r>
              <a:rPr lang="en-US" dirty="0"/>
              <a:t>Advanced confidence-based orchestration</a:t>
            </a:r>
          </a:p>
        </p:txBody>
      </p:sp>
    </p:spTree>
    <p:extLst>
      <p:ext uri="{BB962C8B-B14F-4D97-AF65-F5344CB8AC3E}">
        <p14:creationId xmlns:p14="http://schemas.microsoft.com/office/powerpoint/2010/main" val="124816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EE1C-A479-0662-9C07-EAFD97C42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772D7-BB72-771E-0619-5728535E06B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412480" cy="4695696"/>
          </a:xfrm>
        </p:spPr>
        <p:txBody>
          <a:bodyPr/>
          <a:lstStyle/>
          <a:p>
            <a:r>
              <a:rPr lang="en-US" sz="2400" dirty="0"/>
              <a:t>The project successfully demonstrates an intelligent document processing framework. </a:t>
            </a:r>
          </a:p>
          <a:p>
            <a:r>
              <a:rPr lang="en-US" sz="2400" dirty="0"/>
              <a:t>An agentic decision layer is integrated with traditional RPA workflows. </a:t>
            </a:r>
          </a:p>
          <a:p>
            <a:r>
              <a:rPr lang="en-US" sz="2400" dirty="0"/>
              <a:t>The system automates: </a:t>
            </a:r>
          </a:p>
          <a:p>
            <a:pPr lvl="1"/>
            <a:r>
              <a:rPr lang="en-US" sz="2000" dirty="0"/>
              <a:t>Email monitoring </a:t>
            </a:r>
          </a:p>
          <a:p>
            <a:pPr lvl="1"/>
            <a:r>
              <a:rPr lang="en-US" sz="2000" dirty="0"/>
              <a:t>OCR processing </a:t>
            </a:r>
          </a:p>
          <a:p>
            <a:pPr lvl="1"/>
            <a:r>
              <a:rPr lang="en-US" sz="2000" dirty="0"/>
              <a:t>Document classification </a:t>
            </a:r>
          </a:p>
          <a:p>
            <a:pPr lvl="1"/>
            <a:r>
              <a:rPr lang="en-US" sz="2000" dirty="0"/>
              <a:t>Workflow routing </a:t>
            </a:r>
          </a:p>
          <a:p>
            <a:r>
              <a:rPr lang="en-US" sz="2400" dirty="0"/>
              <a:t>The architecture is modular, scalable, and extensible. </a:t>
            </a:r>
          </a:p>
          <a:p>
            <a:r>
              <a:rPr lang="en-US" sz="2400" dirty="0"/>
              <a:t>The project establishes a foundation for future intelligent enterprise automation systems.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579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34714</TotalTime>
  <Words>605</Words>
  <Application>Microsoft Office PowerPoint</Application>
  <PresentationFormat>On-screen Show (4:3)</PresentationFormat>
  <Paragraphs>122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Objectives of the Project</vt:lpstr>
      <vt:lpstr>Proposed Solution</vt:lpstr>
      <vt:lpstr>System Architecture</vt:lpstr>
      <vt:lpstr>Workflow Explanation</vt:lpstr>
      <vt:lpstr>Technologies Used</vt:lpstr>
      <vt:lpstr>Results Achieved</vt:lpstr>
      <vt:lpstr>Future Scope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Rishabh Jain</cp:lastModifiedBy>
  <cp:revision>2300</cp:revision>
  <dcterms:created xsi:type="dcterms:W3CDTF">2010-04-09T07:36:15Z</dcterms:created>
  <dcterms:modified xsi:type="dcterms:W3CDTF">2026-05-17T06:53:21Z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